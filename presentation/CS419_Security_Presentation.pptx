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24.png"/><Relationship Id="rId7" Type="http://schemas.openxmlformats.org/officeDocument/2006/relationships/image" Target="../media/image26.png"/><Relationship Id="rId8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5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4.png"/><Relationship Id="rId5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2.png"/><Relationship Id="rId5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0" y="822960"/>
            <a:ext cx="12191695" cy="0"/>
          </a:xfrm>
          <a:prstGeom prst="straightConnector1">
            <a:avLst/>
          </a:prstGeom>
          <a:noFill/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3"/>
          <p:cNvCxnSpPr/>
          <p:nvPr/>
        </p:nvCxnSpPr>
        <p:spPr>
          <a:xfrm>
            <a:off x="0" y="1783080"/>
            <a:ext cx="12191695" cy="0"/>
          </a:xfrm>
          <a:prstGeom prst="straightConnector1">
            <a:avLst/>
          </a:prstGeom>
          <a:noFill/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0" y="2743200"/>
            <a:ext cx="12191695" cy="0"/>
          </a:xfrm>
          <a:prstGeom prst="straightConnector1">
            <a:avLst/>
          </a:prstGeom>
          <a:noFill/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0" y="3703320"/>
            <a:ext cx="12191695" cy="0"/>
          </a:xfrm>
          <a:prstGeom prst="straightConnector1">
            <a:avLst/>
          </a:prstGeom>
          <a:noFill/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0" y="4663440"/>
            <a:ext cx="12191695" cy="0"/>
          </a:xfrm>
          <a:prstGeom prst="straightConnector1">
            <a:avLst/>
          </a:prstGeom>
          <a:noFill/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>
            <a:off x="0" y="5623560"/>
            <a:ext cx="12191695" cy="0"/>
          </a:xfrm>
          <a:prstGeom prst="straightConnector1">
            <a:avLst/>
          </a:prstGeom>
          <a:noFill/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" name="Google Shape;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097280"/>
            <a:ext cx="12801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822960" y="25146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CS 419 · SPRING 2026 · COURSE PROJECT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822960" y="2880360"/>
            <a:ext cx="105156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F8FAFC"/>
                </a:solidFill>
                <a:latin typeface="Georgia"/>
                <a:ea typeface="Georgia"/>
                <a:cs typeface="Georgia"/>
                <a:sym typeface="Georgia"/>
              </a:rPr>
              <a:t>Secure Document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F8FAFC"/>
                </a:solidFill>
                <a:latin typeface="Georgia"/>
                <a:ea typeface="Georgia"/>
                <a:cs typeface="Georgia"/>
                <a:sym typeface="Georgia"/>
              </a:rPr>
              <a:t>Sharing System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822960" y="489204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Confidential file exchange protected by authentication, role-based access control, encryption at rest and in transit, hardened sessions, and full audit logging.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822960" y="5989320"/>
            <a:ext cx="24535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By Brandon Son (bjs334)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822960" y="6263640"/>
            <a:ext cx="24535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3550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777240" y="63093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CS 419 · Secure Document Sharing 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0637215" y="630936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02 / 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01 · PROJECT OVERVIEW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Georgia"/>
                <a:ea typeface="Georgia"/>
                <a:cs typeface="Georgia"/>
                <a:sym typeface="Georgia"/>
              </a:rPr>
              <a:t>What we built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48640" y="1554480"/>
            <a:ext cx="128016" cy="128016"/>
          </a:xfrm>
          <a:prstGeom prst="ellipse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548640" y="187452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web application where users can register, upload confidential documents, and share them with specific collaborators under strict role-based controls. Every byte is encrypted at rest, every action is authenticated, and every event is logged.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400800" y="1874520"/>
            <a:ext cx="2697480" cy="1280160"/>
          </a:xfrm>
          <a:prstGeom prst="rect">
            <a:avLst/>
          </a:prstGeom>
          <a:solidFill>
            <a:srgbClr val="16223B"/>
          </a:solidFill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1968" y="207568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>
            <a:off x="7086600" y="2039112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601968" y="2587752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Bcrypt-hashed passwords with lockout &amp; rate limiting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9262872" y="1874520"/>
            <a:ext cx="2697480" cy="1280160"/>
          </a:xfrm>
          <a:prstGeom prst="rect">
            <a:avLst/>
          </a:prstGeom>
          <a:solidFill>
            <a:srgbClr val="16223B"/>
          </a:solidFill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64040" y="207568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9948672" y="2039112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Role-Based Access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9464040" y="2587752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Owner, editor, viewer roles enforced server-side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400800" y="3319272"/>
            <a:ext cx="2697480" cy="1280160"/>
          </a:xfrm>
          <a:prstGeom prst="rect">
            <a:avLst/>
          </a:prstGeom>
          <a:solidFill>
            <a:srgbClr val="16223B"/>
          </a:solidFill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01968" y="352044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/>
          <p:nvPr/>
        </p:nvSpPr>
        <p:spPr>
          <a:xfrm>
            <a:off x="7086600" y="3483864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Encrypted Storage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601968" y="4032504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Fernet AES encryption for files and JSON state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9262872" y="3319272"/>
            <a:ext cx="2697480" cy="1280160"/>
          </a:xfrm>
          <a:prstGeom prst="rect">
            <a:avLst/>
          </a:prstGeom>
          <a:solidFill>
            <a:srgbClr val="16223B"/>
          </a:solidFill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64040" y="352044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4"/>
          <p:cNvSpPr/>
          <p:nvPr/>
        </p:nvSpPr>
        <p:spPr>
          <a:xfrm>
            <a:off x="9948672" y="3483864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Sharing &amp; Versioning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9464040" y="4032504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Granular share lists with versioned history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400800" y="4764024"/>
            <a:ext cx="2697480" cy="1280160"/>
          </a:xfrm>
          <a:prstGeom prst="rect">
            <a:avLst/>
          </a:prstGeom>
          <a:solidFill>
            <a:srgbClr val="16223B"/>
          </a:solidFill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01968" y="496519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/>
          <p:nvPr/>
        </p:nvSpPr>
        <p:spPr>
          <a:xfrm>
            <a:off x="7086600" y="4928616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Audit Trail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601968" y="5477256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Tamper-evident logs of every security event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9262872" y="4764024"/>
            <a:ext cx="2697480" cy="1280160"/>
          </a:xfrm>
          <a:prstGeom prst="rect">
            <a:avLst/>
          </a:prstGeom>
          <a:solidFill>
            <a:srgbClr val="16223B"/>
          </a:solidFill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4040" y="496519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"/>
          <p:cNvSpPr/>
          <p:nvPr/>
        </p:nvSpPr>
        <p:spPr>
          <a:xfrm>
            <a:off x="9948672" y="4928616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Hardened Headers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9464040" y="5477256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CSP, HSTS, X-Frame, SameSite cookies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3550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777240" y="63093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CS 419 · Secure Document Sharing 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637215" y="630936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03 / 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02 · SECURITY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Georgia"/>
                <a:ea typeface="Georgia"/>
                <a:cs typeface="Georgia"/>
                <a:sym typeface="Georgia"/>
              </a:rPr>
              <a:t>Defense-in-depth from browser to disk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48640" y="1554480"/>
            <a:ext cx="128016" cy="128016"/>
          </a:xfrm>
          <a:prstGeom prst="ellipse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548640" y="1874520"/>
            <a:ext cx="3383280" cy="4023360"/>
          </a:xfrm>
          <a:prstGeom prst="rect">
            <a:avLst/>
          </a:prstGeom>
          <a:solidFill>
            <a:srgbClr val="16223B"/>
          </a:solidFill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548640" y="1874520"/>
            <a:ext cx="3383280" cy="73152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21945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5"/>
          <p:cNvSpPr/>
          <p:nvPr/>
        </p:nvSpPr>
        <p:spPr>
          <a:xfrm>
            <a:off x="1417320" y="2167128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Client / Browser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822960" y="2880360"/>
            <a:ext cx="28803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Char char="■"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TLS 1.2+ enforced (HSTS)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Char char="■"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HttpOnly · Secure · SameSite cookies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Char char="■"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CSP blocks inline &amp; external scripts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Char char="■"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X-Frame-Options: DENY (no clickjacking)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206240" y="1874520"/>
            <a:ext cx="3383280" cy="4023360"/>
          </a:xfrm>
          <a:prstGeom prst="rect">
            <a:avLst/>
          </a:prstGeom>
          <a:solidFill>
            <a:srgbClr val="16223B"/>
          </a:solidFill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4206240" y="1874520"/>
            <a:ext cx="3383280" cy="73152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80560" y="21945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/>
          <p:nvPr/>
        </p:nvSpPr>
        <p:spPr>
          <a:xfrm>
            <a:off x="5074920" y="2167128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Flask Application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480560" y="2880360"/>
            <a:ext cx="28803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Char char="■"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Auth middleware: session validate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Char char="■"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RBAC decorators: @require_role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Char char="■"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Input validation &amp; output escaping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Char char="■"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Rate limiting + brute-force lockout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7863840" y="1874520"/>
            <a:ext cx="3383280" cy="4023360"/>
          </a:xfrm>
          <a:prstGeom prst="rect">
            <a:avLst/>
          </a:prstGeom>
          <a:solidFill>
            <a:srgbClr val="16223B"/>
          </a:solidFill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7863840" y="1874520"/>
            <a:ext cx="3383280" cy="73152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38160" y="21945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/>
          <p:cNvSpPr/>
          <p:nvPr/>
        </p:nvSpPr>
        <p:spPr>
          <a:xfrm>
            <a:off x="8732520" y="2167128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Encrypted Storage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8138160" y="2880360"/>
            <a:ext cx="28803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Char char="■"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Fernet AES-128 over JSON files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Char char="■"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Bcrypt cost ≥ 12 for passwords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Char char="■"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Path-traversal-safe file ops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Char char="■"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Append-only security &amp; access logs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 rot="5400000">
            <a:off x="3986784" y="3776472"/>
            <a:ext cx="164592" cy="219456"/>
          </a:xfrm>
          <a:prstGeom prst="rtTriangle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 rot="5400000">
            <a:off x="7644384" y="3776472"/>
            <a:ext cx="164592" cy="219456"/>
          </a:xfrm>
          <a:prstGeom prst="rtTriangle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Every request crosses all three layers — controls fail closed if any layer rejects.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3550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"/>
          <p:cNvSpPr/>
          <p:nvPr/>
        </p:nvSpPr>
        <p:spPr>
          <a:xfrm>
            <a:off x="777240" y="63093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CS 419 · Secure Document Sharing 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10637215" y="630936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04 / 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03 · IDENTITY &amp; ACCESS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Georgia"/>
                <a:ea typeface="Georgia"/>
                <a:cs typeface="Georgia"/>
                <a:sym typeface="Georgia"/>
              </a:rPr>
              <a:t>Authentication and role-based access control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548640" y="1554480"/>
            <a:ext cx="128016" cy="128016"/>
          </a:xfrm>
          <a:prstGeom prst="ellipse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solidFill>
            <a:srgbClr val="16223B"/>
          </a:solidFill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" y="21214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6"/>
          <p:cNvSpPr/>
          <p:nvPr/>
        </p:nvSpPr>
        <p:spPr>
          <a:xfrm>
            <a:off x="1463040" y="2084832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6"/>
          <p:cNvCxnSpPr/>
          <p:nvPr/>
        </p:nvCxnSpPr>
        <p:spPr>
          <a:xfrm>
            <a:off x="868680" y="2697480"/>
            <a:ext cx="4846320" cy="0"/>
          </a:xfrm>
          <a:prstGeom prst="straightConnector1">
            <a:avLst/>
          </a:prstGeom>
          <a:noFill/>
          <a:ln cap="flat" cmpd="sng" w="12700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6"/>
          <p:cNvSpPr/>
          <p:nvPr/>
        </p:nvSpPr>
        <p:spPr>
          <a:xfrm>
            <a:off x="868680" y="288036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Password hashing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2606040" y="28803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bcrypt, cost factor 12 + per-user salt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868680" y="347472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Strength policy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2606040" y="347472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12+ chars · upper · lower · number · symbol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868680" y="406908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Lockout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2606040" y="406908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5 failed attempts → 15-minute account lock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868680" y="466344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Rate limit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2606040" y="46634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10 login attempts per IP per minute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868680" y="525780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Audit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2606040" y="525780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Every success and failure logged with IP + UA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309360" y="1828800"/>
            <a:ext cx="5486400" cy="4297680"/>
          </a:xfrm>
          <a:prstGeom prst="rect">
            <a:avLst/>
          </a:prstGeom>
          <a:solidFill>
            <a:srgbClr val="16223B"/>
          </a:solidFill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9400" y="21214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/>
          <p:nvPr/>
        </p:nvSpPr>
        <p:spPr>
          <a:xfrm>
            <a:off x="7223760" y="2084832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Role-Based Access Control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6"/>
          <p:cNvCxnSpPr/>
          <p:nvPr/>
        </p:nvCxnSpPr>
        <p:spPr>
          <a:xfrm>
            <a:off x="6629400" y="2697480"/>
            <a:ext cx="4846320" cy="0"/>
          </a:xfrm>
          <a:prstGeom prst="straightConnector1">
            <a:avLst/>
          </a:prstGeom>
          <a:noFill/>
          <a:ln cap="flat" cmpd="sng" w="12700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6"/>
          <p:cNvSpPr/>
          <p:nvPr/>
        </p:nvSpPr>
        <p:spPr>
          <a:xfrm>
            <a:off x="6629400" y="288036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8366760" y="28803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Full system access · user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629400" y="347472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8366760" y="347472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Create, edit, delete, share own content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629400" y="406908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Guest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8366760" y="406908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Read-only access to explicitly shared docs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629400" y="466344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Enforcement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8366760" y="46634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@require_auth &amp; @require_role decorators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629400" y="525780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Default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8366760" y="525780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Deny by default — every route checks first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3550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777240" y="63093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CS 419 · Secure Document Sharing 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0637215" y="630936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05 / 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04 · INPUT &amp; DATA PROTECTION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Georgia"/>
                <a:ea typeface="Georgia"/>
                <a:cs typeface="Georgia"/>
                <a:sym typeface="Georgia"/>
              </a:rPr>
              <a:t>Validation, injection prevention &amp; encryption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48640" y="1554480"/>
            <a:ext cx="128016" cy="128016"/>
          </a:xfrm>
          <a:prstGeom prst="ellipse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548640" y="1828800"/>
            <a:ext cx="3703320" cy="1691640"/>
          </a:xfrm>
          <a:prstGeom prst="rect">
            <a:avLst/>
          </a:prstGeom>
          <a:solidFill>
            <a:srgbClr val="16223B"/>
          </a:solidFill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548640" y="1828800"/>
            <a:ext cx="73152" cy="1691640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20574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/>
          <p:nvPr/>
        </p:nvSpPr>
        <p:spPr>
          <a:xfrm>
            <a:off x="1325880" y="201168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XSS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822960" y="2606040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Jinja2 auto-escape + html.escape on every untrusted value before render.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416552" y="1828800"/>
            <a:ext cx="3703320" cy="1691640"/>
          </a:xfrm>
          <a:prstGeom prst="rect">
            <a:avLst/>
          </a:prstGeom>
          <a:solidFill>
            <a:srgbClr val="16223B"/>
          </a:solidFill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4416552" y="1828800"/>
            <a:ext cx="73152" cy="1691640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" name="Google Shape;15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0872" y="20574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/>
          <p:nvPr/>
        </p:nvSpPr>
        <p:spPr>
          <a:xfrm>
            <a:off x="5193792" y="201168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Path Traversal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690872" y="2606040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secure_filename() + base-dir containment check before any file open.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8284464" y="1828800"/>
            <a:ext cx="3703320" cy="1691640"/>
          </a:xfrm>
          <a:prstGeom prst="rect">
            <a:avLst/>
          </a:prstGeom>
          <a:solidFill>
            <a:srgbClr val="16223B"/>
          </a:solidFill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8284464" y="1828800"/>
            <a:ext cx="73152" cy="1691640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58784" y="20574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/>
          <p:nvPr/>
        </p:nvSpPr>
        <p:spPr>
          <a:xfrm>
            <a:off x="9061704" y="201168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Command Injection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8558784" y="2606040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 shell calls. Whitelist regex on filenames; parameterized APIs only.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548640" y="3749040"/>
            <a:ext cx="11064240" cy="2331720"/>
          </a:xfrm>
          <a:prstGeom prst="rect">
            <a:avLst/>
          </a:prstGeom>
          <a:solidFill>
            <a:srgbClr val="111B2E"/>
          </a:solidFill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4" name="Google Shape;16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960" y="40233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7"/>
          <p:cNvSpPr/>
          <p:nvPr/>
        </p:nvSpPr>
        <p:spPr>
          <a:xfrm>
            <a:off x="1508760" y="39776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Encryption: Two layers, end-to-end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822960" y="4754880"/>
            <a:ext cx="5212080" cy="1143000"/>
          </a:xfrm>
          <a:prstGeom prst="rect">
            <a:avLst/>
          </a:prstGeom>
          <a:solidFill>
            <a:srgbClr val="16223B"/>
          </a:solidFill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822960" y="4754880"/>
            <a:ext cx="54864" cy="1143000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1051560" y="48920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IN TRANSIT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1051560" y="51206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TLS 1.2+ enforced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1051560" y="5468112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Self-signed dev cert + HSTS in production. Plain HTTP redirects to HTTPS via @before_request hook.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309360" y="4754880"/>
            <a:ext cx="5212080" cy="1143000"/>
          </a:xfrm>
          <a:prstGeom prst="rect">
            <a:avLst/>
          </a:prstGeom>
          <a:solidFill>
            <a:srgbClr val="16223B"/>
          </a:solidFill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6309360" y="4754880"/>
            <a:ext cx="54864" cy="1143000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6537960" y="48920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AT REST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537960" y="51206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Fernet (AES-128-CBC + HMAC)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6537960" y="5468112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EncryptedStorage class wraps every JSON write. Key file lives outside repo; rotated by the key-management plan.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3550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/>
          <p:nvPr/>
        </p:nvSpPr>
        <p:spPr>
          <a:xfrm>
            <a:off x="777240" y="63093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CS 419 · Secure Document Sharing 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10637215" y="630936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06 / 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05 · SESSIONS &amp; HEADERS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Georgia"/>
                <a:ea typeface="Georgia"/>
                <a:cs typeface="Georgia"/>
                <a:sym typeface="Georgia"/>
              </a:rPr>
              <a:t>Hardened cookies and browser-level defenses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548640" y="1554480"/>
            <a:ext cx="128016" cy="128016"/>
          </a:xfrm>
          <a:prstGeom prst="ellipse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548640" y="1828800"/>
            <a:ext cx="5394960" cy="4297680"/>
          </a:xfrm>
          <a:prstGeom prst="rect">
            <a:avLst/>
          </a:prstGeom>
          <a:solidFill>
            <a:srgbClr val="16223B"/>
          </a:solidFill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9" name="Google Shape;18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" y="212140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8"/>
          <p:cNvSpPr/>
          <p:nvPr/>
        </p:nvSpPr>
        <p:spPr>
          <a:xfrm>
            <a:off x="1508760" y="210312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Session Hardening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8"/>
          <p:cNvCxnSpPr/>
          <p:nvPr/>
        </p:nvCxnSpPr>
        <p:spPr>
          <a:xfrm>
            <a:off x="868680" y="2743200"/>
            <a:ext cx="4754880" cy="0"/>
          </a:xfrm>
          <a:prstGeom prst="straightConnector1">
            <a:avLst/>
          </a:prstGeom>
          <a:noFill/>
          <a:ln cap="flat" cmpd="sng" w="12700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8"/>
          <p:cNvSpPr/>
          <p:nvPr/>
        </p:nvSpPr>
        <p:spPr>
          <a:xfrm>
            <a:off x="868680" y="292608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Token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2743200" y="292608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secrets.token_urlsafe(32) — 256-bit entropy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868680" y="342900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HttpOnly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2743200" y="342900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Cookie unreadable from JavaScript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868680" y="393192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Secure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2743200" y="393192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Cookie only sent over HTTPS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868680" y="443484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SameSite=Strict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2743200" y="443484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Blocks cross-site request forgery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868680" y="493776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Idle timeout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2743200" y="493776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30 min — server side expiry, not just cookie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868680" y="544068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Server store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2743200" y="544068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data/sessions.json with IP + User-Agent binding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16223B"/>
          </a:solidFill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6520" y="212140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8"/>
          <p:cNvSpPr/>
          <p:nvPr/>
        </p:nvSpPr>
        <p:spPr>
          <a:xfrm>
            <a:off x="7086600" y="210312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Security Headers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8"/>
          <p:cNvCxnSpPr/>
          <p:nvPr/>
        </p:nvCxnSpPr>
        <p:spPr>
          <a:xfrm>
            <a:off x="6446520" y="2743200"/>
            <a:ext cx="4846320" cy="0"/>
          </a:xfrm>
          <a:prstGeom prst="straightConnector1">
            <a:avLst/>
          </a:prstGeom>
          <a:noFill/>
          <a:ln cap="flat" cmpd="sng" w="12700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08" name="Google Shape;20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6520" y="293522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8"/>
          <p:cNvSpPr/>
          <p:nvPr/>
        </p:nvSpPr>
        <p:spPr>
          <a:xfrm>
            <a:off x="6766560" y="288036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Content-Security-Policy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9144000" y="288036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default-src 'self'; frame-ancestors 'none'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1" name="Google Shape;21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6520" y="343814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"/>
          <p:cNvSpPr/>
          <p:nvPr/>
        </p:nvSpPr>
        <p:spPr>
          <a:xfrm>
            <a:off x="6766560" y="338328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Strict-Transport-Security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9144000" y="338328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max-age=31536000; includeSubDomains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4" name="Google Shape;21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6520" y="394106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8"/>
          <p:cNvSpPr/>
          <p:nvPr/>
        </p:nvSpPr>
        <p:spPr>
          <a:xfrm>
            <a:off x="6766560" y="388620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X-Frame-Options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9144000" y="388620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DENY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7" name="Google Shape;21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6520" y="444398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8"/>
          <p:cNvSpPr/>
          <p:nvPr/>
        </p:nvSpPr>
        <p:spPr>
          <a:xfrm>
            <a:off x="6766560" y="438912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X-Content-Type-Options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9144000" y="438912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nosniff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0" name="Google Shape;22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6520" y="494690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8"/>
          <p:cNvSpPr/>
          <p:nvPr/>
        </p:nvSpPr>
        <p:spPr>
          <a:xfrm>
            <a:off x="6766560" y="489204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Referrer-Policy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9144000" y="489204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strict-origin-when-cross-origin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3" name="Google Shape;22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6520" y="544982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8"/>
          <p:cNvSpPr/>
          <p:nvPr/>
        </p:nvSpPr>
        <p:spPr>
          <a:xfrm>
            <a:off x="6766560" y="539496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Permissions-Policy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9144000" y="539496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camera=(), microphone=(), geolocation=()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2" name="Google Shape;2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3550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9"/>
          <p:cNvSpPr/>
          <p:nvPr/>
        </p:nvSpPr>
        <p:spPr>
          <a:xfrm>
            <a:off x="777240" y="63093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CS 419 · Secure Document Sharing 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10637215" y="630936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07 / 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06 · DETECT &amp; VERIFY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Georgia"/>
                <a:ea typeface="Georgia"/>
                <a:cs typeface="Georgia"/>
                <a:sym typeface="Georgia"/>
              </a:rPr>
              <a:t>Audit logging and penetration testing results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548640" y="1554480"/>
            <a:ext cx="128016" cy="128016"/>
          </a:xfrm>
          <a:prstGeom prst="ellipse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548640" y="1828800"/>
            <a:ext cx="5394960" cy="4297680"/>
          </a:xfrm>
          <a:prstGeom prst="rect">
            <a:avLst/>
          </a:prstGeom>
          <a:solidFill>
            <a:srgbClr val="16223B"/>
          </a:solidFill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9" name="Google Shape;23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" y="212140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9"/>
          <p:cNvSpPr/>
          <p:nvPr/>
        </p:nvSpPr>
        <p:spPr>
          <a:xfrm>
            <a:off x="1508760" y="210312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Audited Events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9"/>
          <p:cNvCxnSpPr/>
          <p:nvPr/>
        </p:nvCxnSpPr>
        <p:spPr>
          <a:xfrm>
            <a:off x="868680" y="2743200"/>
            <a:ext cx="4754880" cy="0"/>
          </a:xfrm>
          <a:prstGeom prst="straightConnector1">
            <a:avLst/>
          </a:prstGeom>
          <a:noFill/>
          <a:ln cap="flat" cmpd="sng" w="12700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9"/>
          <p:cNvSpPr/>
          <p:nvPr/>
        </p:nvSpPr>
        <p:spPr>
          <a:xfrm>
            <a:off x="868680" y="2926080"/>
            <a:ext cx="31089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LOGIN_SUCCESS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4206240" y="2971800"/>
            <a:ext cx="1280160" cy="292608"/>
          </a:xfrm>
          <a:prstGeom prst="rect">
            <a:avLst/>
          </a:prstGeom>
          <a:solidFill>
            <a:srgbClr val="34D399">
              <a:alpha val="25098"/>
            </a:srgbClr>
          </a:solidFill>
          <a:ln cap="flat" cmpd="sng" w="9525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4206240" y="2971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INFO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868680" y="3310128"/>
            <a:ext cx="31089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LOGIN_FAILED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4206240" y="3355848"/>
            <a:ext cx="1280160" cy="292608"/>
          </a:xfrm>
          <a:prstGeom prst="rect">
            <a:avLst/>
          </a:prstGeom>
          <a:solidFill>
            <a:srgbClr val="FBBF24">
              <a:alpha val="25098"/>
            </a:srgbClr>
          </a:solidFill>
          <a:ln cap="flat" cmpd="sng" w="9525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4206240" y="3355848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WARNING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868680" y="3694176"/>
            <a:ext cx="31089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ACCOUNT_LOCKED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4206240" y="3739896"/>
            <a:ext cx="1280160" cy="292608"/>
          </a:xfrm>
          <a:prstGeom prst="rect">
            <a:avLst/>
          </a:prstGeom>
          <a:solidFill>
            <a:srgbClr val="F87171">
              <a:alpha val="25098"/>
            </a:srgbClr>
          </a:solidFill>
          <a:ln cap="flat" cmpd="sng" w="95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4206240" y="373989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ERROR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868680" y="4078224"/>
            <a:ext cx="31089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ACCESS_DENIED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4206240" y="4123944"/>
            <a:ext cx="1280160" cy="292608"/>
          </a:xfrm>
          <a:prstGeom prst="rect">
            <a:avLst/>
          </a:prstGeom>
          <a:solidFill>
            <a:srgbClr val="FBBF24">
              <a:alpha val="25098"/>
            </a:srgbClr>
          </a:solidFill>
          <a:ln cap="flat" cmpd="sng" w="9525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4206240" y="4123944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WARNING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868680" y="4462272"/>
            <a:ext cx="31089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DATA_ACCESS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4206240" y="4507992"/>
            <a:ext cx="1280160" cy="292608"/>
          </a:xfrm>
          <a:prstGeom prst="rect">
            <a:avLst/>
          </a:prstGeom>
          <a:solidFill>
            <a:srgbClr val="34D399">
              <a:alpha val="25098"/>
            </a:srgbClr>
          </a:solidFill>
          <a:ln cap="flat" cmpd="sng" w="9525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4206240" y="450799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INFO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868680" y="4846320"/>
            <a:ext cx="31089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SESSION_CREATED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4206240" y="4892040"/>
            <a:ext cx="1280160" cy="292608"/>
          </a:xfrm>
          <a:prstGeom prst="rect">
            <a:avLst/>
          </a:prstGeom>
          <a:solidFill>
            <a:srgbClr val="34D399">
              <a:alpha val="25098"/>
            </a:srgbClr>
          </a:solidFill>
          <a:ln cap="flat" cmpd="sng" w="9525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4206240" y="489204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INFO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868680" y="5230368"/>
            <a:ext cx="31089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INPUT_REJECTED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4206240" y="5276088"/>
            <a:ext cx="1280160" cy="292608"/>
          </a:xfrm>
          <a:prstGeom prst="rect">
            <a:avLst/>
          </a:prstGeom>
          <a:solidFill>
            <a:srgbClr val="FBBF24">
              <a:alpha val="25098"/>
            </a:srgbClr>
          </a:solidFill>
          <a:ln cap="flat" cmpd="sng" w="9525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4206240" y="5276088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WARNING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868680" y="5614416"/>
            <a:ext cx="31089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PASSWORD_CHANGED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4206240" y="5660136"/>
            <a:ext cx="1280160" cy="292608"/>
          </a:xfrm>
          <a:prstGeom prst="rect">
            <a:avLst/>
          </a:prstGeom>
          <a:solidFill>
            <a:srgbClr val="34D399">
              <a:alpha val="25098"/>
            </a:srgbClr>
          </a:solidFill>
          <a:ln cap="flat" cmpd="sng" w="9525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4206240" y="566013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INFO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16223B"/>
          </a:solidFill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7" name="Google Shape;26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6520" y="212140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9"/>
          <p:cNvSpPr/>
          <p:nvPr/>
        </p:nvSpPr>
        <p:spPr>
          <a:xfrm>
            <a:off x="7086600" y="210312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Pen-Test Coverage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p9"/>
          <p:cNvCxnSpPr/>
          <p:nvPr/>
        </p:nvCxnSpPr>
        <p:spPr>
          <a:xfrm>
            <a:off x="6446520" y="2743200"/>
            <a:ext cx="4846320" cy="0"/>
          </a:xfrm>
          <a:prstGeom prst="straightConnector1">
            <a:avLst/>
          </a:prstGeom>
          <a:noFill/>
          <a:ln cap="flat" cmpd="sng" w="12700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9"/>
          <p:cNvSpPr/>
          <p:nvPr/>
        </p:nvSpPr>
        <p:spPr>
          <a:xfrm>
            <a:off x="6446520" y="2926080"/>
            <a:ext cx="11201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22D3EE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6446520" y="3566160"/>
            <a:ext cx="11201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Auth tests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7658100" y="2926080"/>
            <a:ext cx="11201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22D3EE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7658100" y="3566160"/>
            <a:ext cx="11201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AuthZ tests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8869680" y="2926080"/>
            <a:ext cx="11201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22D3EE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8869680" y="3566160"/>
            <a:ext cx="11201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Input tests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10081260" y="2926080"/>
            <a:ext cx="11201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22D3EE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10081260" y="3566160"/>
            <a:ext cx="11201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Session tests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6446520" y="406908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Findings after remediation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6492240" y="4434840"/>
            <a:ext cx="1120140" cy="960120"/>
          </a:xfrm>
          <a:prstGeom prst="rect">
            <a:avLst/>
          </a:prstGeom>
          <a:solidFill>
            <a:srgbClr val="111B2E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6492240" y="4480560"/>
            <a:ext cx="11201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87171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6492240" y="4983480"/>
            <a:ext cx="11201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Critical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7703820" y="4434840"/>
            <a:ext cx="1120140" cy="960120"/>
          </a:xfrm>
          <a:prstGeom prst="rect">
            <a:avLst/>
          </a:prstGeom>
          <a:solidFill>
            <a:srgbClr val="111B2E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7703820" y="4480560"/>
            <a:ext cx="11201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BBF24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7703820" y="4983480"/>
            <a:ext cx="11201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8915400" y="4434840"/>
            <a:ext cx="1120140" cy="960120"/>
          </a:xfrm>
          <a:prstGeom prst="rect">
            <a:avLst/>
          </a:prstGeom>
          <a:solidFill>
            <a:srgbClr val="111B2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8915400" y="4480560"/>
            <a:ext cx="11201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22D3EE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8915400" y="4983480"/>
            <a:ext cx="11201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10126980" y="4434840"/>
            <a:ext cx="1120140" cy="960120"/>
          </a:xfrm>
          <a:prstGeom prst="rect">
            <a:avLst/>
          </a:prstGeom>
          <a:solidFill>
            <a:srgbClr val="111B2E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10126980" y="4480560"/>
            <a:ext cx="11201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94A3B8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10126980" y="4983480"/>
            <a:ext cx="11201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6446520" y="55321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Tools: OWASP ZAP, Burp Suite Community, securityheaders.com — paired self-test plus team-exchange review.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8" name="Google Shape;29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3550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0"/>
          <p:cNvSpPr/>
          <p:nvPr/>
        </p:nvSpPr>
        <p:spPr>
          <a:xfrm>
            <a:off x="777240" y="63093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CS 419 · Secure Document Sharing 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10637215" y="630936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08 / 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07 · REFLECTION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Georgia"/>
                <a:ea typeface="Georgia"/>
                <a:cs typeface="Georgia"/>
                <a:sym typeface="Georgia"/>
              </a:rPr>
              <a:t>Challenges, lessons, and what's next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548640" y="1554480"/>
            <a:ext cx="128016" cy="128016"/>
          </a:xfrm>
          <a:prstGeom prst="ellipse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548640" y="1783080"/>
            <a:ext cx="5486400" cy="4434840"/>
          </a:xfrm>
          <a:prstGeom prst="rect">
            <a:avLst/>
          </a:prstGeom>
          <a:solidFill>
            <a:srgbClr val="16223B"/>
          </a:solidFill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548640" y="1783080"/>
            <a:ext cx="5486400" cy="73152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6" name="Google Shape;30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" y="20756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0"/>
          <p:cNvSpPr/>
          <p:nvPr/>
        </p:nvSpPr>
        <p:spPr>
          <a:xfrm>
            <a:off x="1463040" y="2039112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Challenges we hit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10"/>
          <p:cNvCxnSpPr/>
          <p:nvPr/>
        </p:nvCxnSpPr>
        <p:spPr>
          <a:xfrm>
            <a:off x="868680" y="2697480"/>
            <a:ext cx="4846320" cy="0"/>
          </a:xfrm>
          <a:prstGeom prst="straightConnector1">
            <a:avLst/>
          </a:prstGeom>
          <a:noFill/>
          <a:ln cap="flat" cmpd="sng" w="12700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10"/>
          <p:cNvSpPr/>
          <p:nvPr/>
        </p:nvSpPr>
        <p:spPr>
          <a:xfrm>
            <a:off x="868680" y="28346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Key management without a DB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868680" y="3200400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Storing the Fernet key alongside the app risked a single-file compromise. We isolated it outside the repo and documented rotation steps.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868680" y="39776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Brute-force vs. usability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868680" y="4343400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Aggressive lockouts let attackers DoS real users by guessing usernames. We log per-IP and per-account and tune thresholds separately.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868680" y="51206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CSP without breaking UI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868680" y="5486400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Inline scripts and third-party fonts kept tripping the policy. We refactored to file-based JS and a 'self'-only allowlist.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6309360" y="1783080"/>
            <a:ext cx="5486400" cy="4434840"/>
          </a:xfrm>
          <a:prstGeom prst="rect">
            <a:avLst/>
          </a:prstGeom>
          <a:solidFill>
            <a:srgbClr val="16223B"/>
          </a:solidFill>
          <a:ln cap="flat" cmpd="sng" w="9525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0"/>
          <p:cNvSpPr/>
          <p:nvPr/>
        </p:nvSpPr>
        <p:spPr>
          <a:xfrm>
            <a:off x="6309360" y="1783080"/>
            <a:ext cx="5486400" cy="73152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7" name="Google Shape;31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9400" y="20756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0"/>
          <p:cNvSpPr/>
          <p:nvPr/>
        </p:nvSpPr>
        <p:spPr>
          <a:xfrm>
            <a:off x="7223760" y="2039112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What we learned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" name="Google Shape;319;p10"/>
          <p:cNvCxnSpPr/>
          <p:nvPr/>
        </p:nvCxnSpPr>
        <p:spPr>
          <a:xfrm>
            <a:off x="6629400" y="2697480"/>
            <a:ext cx="4846320" cy="0"/>
          </a:xfrm>
          <a:prstGeom prst="straightConnector1">
            <a:avLst/>
          </a:prstGeom>
          <a:noFill/>
          <a:ln cap="flat" cmpd="sng" w="12700">
            <a:solidFill>
              <a:srgbClr val="24314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p10"/>
          <p:cNvSpPr/>
          <p:nvPr/>
        </p:nvSpPr>
        <p:spPr>
          <a:xfrm>
            <a:off x="6629400" y="28346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Threat-model first, then code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6629400" y="3200400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Mapping assets and attackers up front turned vague 'be secure' goals into concrete, testable controls.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6629400" y="39776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Defense in depth pays off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6629400" y="4343400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Each layer caught bugs the others missed — input validation alone, or headers alone, would have left obvious holes.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6629400" y="51206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Logging is half the product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6629400" y="5486400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Without the audit trail, we couldn't have proven controls were working — to graders or, in the real world, to users.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